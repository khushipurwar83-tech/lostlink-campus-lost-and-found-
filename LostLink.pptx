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Bold" charset="1" panose="02020803070505020304"/>
      <p:regular r:id="rId16"/>
    </p:embeddedFont>
    <p:embeddedFont>
      <p:font typeface="Times New Roman Bold Italics" charset="1" panose="02020703060505090304"/>
      <p:regular r:id="rId17"/>
    </p:embeddedFont>
    <p:embeddedFont>
      <p:font typeface="Times New Roman" charset="1" panose="020206030504050203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9275" r="0" b="-6927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56467" y="2423184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33298" y="2302246"/>
            <a:ext cx="17153258" cy="321624"/>
          </a:xfrm>
          <a:custGeom>
            <a:avLst/>
            <a:gdLst/>
            <a:ahLst/>
            <a:cxnLst/>
            <a:rect r="r" b="b" t="t" l="l"/>
            <a:pathLst>
              <a:path h="321624" w="17153258">
                <a:moveTo>
                  <a:pt x="0" y="0"/>
                </a:moveTo>
                <a:lnTo>
                  <a:pt x="17153258" y="0"/>
                </a:lnTo>
                <a:lnTo>
                  <a:pt x="17153258" y="321623"/>
                </a:lnTo>
                <a:lnTo>
                  <a:pt x="0" y="3216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73798" y="365760"/>
            <a:ext cx="10395937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8"/>
              </a:lnSpc>
            </a:pPr>
            <a:r>
              <a:rPr lang="en-US" b="true" sz="5998" spc="-21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5956" y="3492579"/>
            <a:ext cx="13012222" cy="6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9777" indent="-259926" lvl="2">
              <a:lnSpc>
                <a:spcPts val="4830"/>
              </a:lnSpc>
              <a:buFont typeface="Arial"/>
              <a:buChar char="⚬"/>
            </a:pPr>
            <a:r>
              <a:rPr lang="en-US" b="true" sz="36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 Campus Lost &amp; Found Board – </a:t>
            </a:r>
            <a:r>
              <a:rPr lang="en-US" b="true" sz="3600" i="true">
                <a:solidFill>
                  <a:srgbClr val="FFFFFF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LostLink</a:t>
            </a:r>
            <a:r>
              <a:rPr lang="en-US" b="true" sz="36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5956" y="4976214"/>
            <a:ext cx="9390164" cy="60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396" indent="-243799" lvl="2">
              <a:lnSpc>
                <a:spcPts val="4830"/>
              </a:lnSpc>
              <a:buFont typeface="Arial"/>
              <a:buChar char="⚬"/>
            </a:pPr>
            <a:r>
              <a:rPr lang="en-US" b="true" sz="3199" spc="-11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 Dev Duo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3298" y="6410458"/>
            <a:ext cx="17300600" cy="60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664" indent="-345332" lvl="1">
              <a:lnSpc>
                <a:spcPts val="4830"/>
              </a:lnSpc>
              <a:buFont typeface="Arial"/>
              <a:buChar char="•"/>
            </a:pPr>
            <a:r>
              <a:rPr lang="en-US" b="true" sz="3199" spc="-11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18404" y="6450405"/>
            <a:ext cx="8480987" cy="1199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8"/>
              </a:lnSpc>
            </a:pPr>
            <a:r>
              <a:rPr lang="en-US" b="true" sz="3399" spc="-26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Khushi Purwar (25BCE10021)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spc="-27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Shekhar Rajput(25BMR10013)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9570" y="298032"/>
            <a:ext cx="2131571" cy="1004830"/>
            <a:chOff x="0" y="0"/>
            <a:chExt cx="2842095" cy="1339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" t="0" r="-85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21455" y="-437398"/>
            <a:ext cx="2475690" cy="2475690"/>
            <a:chOff x="0" y="0"/>
            <a:chExt cx="3300921" cy="33009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9570" y="1302863"/>
            <a:ext cx="17295092" cy="324283"/>
          </a:xfrm>
          <a:custGeom>
            <a:avLst/>
            <a:gdLst/>
            <a:ahLst/>
            <a:cxnLst/>
            <a:rect r="r" b="b" t="t" l="l"/>
            <a:pathLst>
              <a:path h="324283" w="17295092">
                <a:moveTo>
                  <a:pt x="0" y="0"/>
                </a:moveTo>
                <a:lnTo>
                  <a:pt x="17295093" y="0"/>
                </a:lnTo>
                <a:lnTo>
                  <a:pt x="17295093" y="324283"/>
                </a:lnTo>
                <a:lnTo>
                  <a:pt x="0" y="324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98168" y="401641"/>
            <a:ext cx="11866416" cy="94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9065" y="1610269"/>
            <a:ext cx="15940859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9065" y="4422705"/>
            <a:ext cx="16159310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is affected ??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8702" y="6782682"/>
            <a:ext cx="16014803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 is solution needed?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4214" y="2289371"/>
            <a:ext cx="15204161" cy="208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7519" indent="-258759" lvl="1">
              <a:lnSpc>
                <a:spcPts val="3355"/>
              </a:lnSpc>
              <a:buFont typeface="Arial"/>
              <a:buChar char="•"/>
            </a:pPr>
            <a:r>
              <a:rPr lang="en-US" sz="2397" spc="-18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US" sz="2397" spc="-18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udents generally lose important stuffs like ID cards, keys, wallets, and other items in campus.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sz="2310" spc="-18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Currently, people who lose stuff depends on unorganized WhatsApp groups or word-of-mouth.</a:t>
            </a:r>
          </a:p>
          <a:p>
            <a:pPr algn="l" marL="517519" indent="-258759" lvl="1">
              <a:lnSpc>
                <a:spcPts val="3355"/>
              </a:lnSpc>
              <a:buFont typeface="Arial"/>
              <a:buChar char="•"/>
            </a:pPr>
            <a:r>
              <a:rPr lang="en-US" sz="2397" spc="-18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notices get buried in chats and are difficult to track or search and may never found it.</a:t>
            </a:r>
          </a:p>
          <a:p>
            <a:pPr algn="l" marL="517519" indent="-258759" lvl="1">
              <a:lnSpc>
                <a:spcPts val="3355"/>
              </a:lnSpc>
              <a:buFont typeface="Arial"/>
              <a:buChar char="•"/>
            </a:pPr>
            <a:r>
              <a:rPr lang="en-US" sz="2397" spc="-18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 is no proper system to search or segregate lost and found items.</a:t>
            </a:r>
          </a:p>
          <a:p>
            <a:pPr algn="l" marL="517519" indent="-258759" lvl="1">
              <a:lnSpc>
                <a:spcPts val="3356"/>
              </a:lnSpc>
              <a:buFont typeface="Arial"/>
              <a:buChar char="•"/>
            </a:pPr>
            <a:r>
              <a:rPr lang="en-US" sz="2397" spc="-19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Sometimes for fun fake leads are given for the lost items.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4214" y="5088794"/>
            <a:ext cx="15433155" cy="1646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905" indent="-249453" lvl="1">
              <a:lnSpc>
                <a:spcPts val="3235"/>
              </a:lnSpc>
              <a:buFont typeface="Arial"/>
              <a:buChar char="•"/>
            </a:pPr>
            <a:r>
              <a:rPr lang="en-US" b="true" sz="2310" spc="-18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People who lost their personal stuff.</a:t>
            </a:r>
          </a:p>
          <a:p>
            <a:pPr algn="l" marL="498905" indent="-249453" lvl="1">
              <a:lnSpc>
                <a:spcPts val="3235"/>
              </a:lnSpc>
              <a:buFont typeface="Arial"/>
              <a:buChar char="•"/>
            </a:pPr>
            <a:r>
              <a:rPr lang="en-US" b="true" sz="2310" spc="-18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People wh</a:t>
            </a:r>
            <a:r>
              <a:rPr lang="en-US" b="true" sz="2310" spc="-18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 find lost items but cannot find it's owner</a:t>
            </a:r>
          </a:p>
          <a:p>
            <a:pPr algn="l" marL="498905" indent="-249453" lvl="1">
              <a:lnSpc>
                <a:spcPts val="3235"/>
              </a:lnSpc>
              <a:buFont typeface="Arial"/>
              <a:buChar char="•"/>
            </a:pPr>
            <a:r>
              <a:rPr lang="en-US" b="true" sz="2310" spc="-18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New students who doesn't know about campus communication channels</a:t>
            </a:r>
          </a:p>
          <a:p>
            <a:pPr algn="l" marL="498905" indent="-249453" lvl="1">
              <a:lnSpc>
                <a:spcPts val="3235"/>
              </a:lnSpc>
              <a:buFont typeface="Arial"/>
              <a:buChar char="•"/>
            </a:pPr>
            <a:r>
              <a:rPr lang="en-US" b="true" sz="2310" spc="-18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 campus community, as WhatsApp groups get spammed with lost-and-found messages, due to which important messages to be missed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9084" y="7448772"/>
            <a:ext cx="15229291" cy="205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 spc="-18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Person wh</a:t>
            </a:r>
            <a:r>
              <a:rPr lang="en-US" b="true" sz="2310" spc="-18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 has lost stuff suffers from stress and disrupts their daily life.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 spc="-18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lot of time is wasted in search through chats or asking people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 spc="-18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Chances of getting the lost item is less due to poor system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 spc="-18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Creates unnecessary confusion and miscommunication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 spc="-18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Proper system can improve efficiency and make the recovery of lost item easy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69708" y="401641"/>
            <a:ext cx="9308754" cy="176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64600"/>
            <a:ext cx="15581950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of existing Solutions  (if any)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45526"/>
            <a:ext cx="15832065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2635" y="6826452"/>
            <a:ext cx="15562900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Gaps can be covered by our plateform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366972" y="664240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633298" y="2044420"/>
            <a:ext cx="17295092" cy="324283"/>
          </a:xfrm>
          <a:custGeom>
            <a:avLst/>
            <a:gdLst/>
            <a:ahLst/>
            <a:cxnLst/>
            <a:rect r="r" b="b" t="t" l="l"/>
            <a:pathLst>
              <a:path h="324283" w="17295092">
                <a:moveTo>
                  <a:pt x="0" y="0"/>
                </a:moveTo>
                <a:lnTo>
                  <a:pt x="17295093" y="0"/>
                </a:lnTo>
                <a:lnTo>
                  <a:pt x="17295093" y="324283"/>
                </a:lnTo>
                <a:lnTo>
                  <a:pt x="0" y="324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09126" y="3178315"/>
            <a:ext cx="9456777" cy="137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WhatsApps gr</a:t>
            </a: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oups and community are used to posting lost and found items.</a:t>
            </a:r>
          </a:p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Enquiring about lost stuff to security guards, staff, and workers.</a:t>
            </a:r>
          </a:p>
          <a:p>
            <a:pPr algn="l" marL="563497" indent="-281749" lvl="1">
              <a:lnSpc>
                <a:spcPts val="3654"/>
              </a:lnSpc>
              <a:buFont typeface="Arial"/>
              <a:buChar char="•"/>
            </a:pPr>
            <a:r>
              <a:rPr lang="en-US" b="true" sz="2609" spc="-20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Trying to search through friends or social media.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9126" y="5359241"/>
            <a:ext cx="14999137" cy="137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WhatsApp groups and c</a:t>
            </a: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ommunity notices are filled with messages, which causes missing of important announcements.</a:t>
            </a:r>
          </a:p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It's not well-maintained or organized, and doesn't even have a search function or filter</a:t>
            </a:r>
          </a:p>
          <a:p>
            <a:pPr algn="l" marL="563497" indent="-281749" lvl="1">
              <a:lnSpc>
                <a:spcPts val="3654"/>
              </a:lnSpc>
              <a:buFont typeface="Arial"/>
              <a:buChar char="•"/>
            </a:pPr>
            <a:r>
              <a:rPr lang="en-US" b="true" sz="2609" spc="-20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There is no proper monitoring or tracking can be done even if an item is found in this process.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9126" y="7540167"/>
            <a:ext cx="10802422" cy="137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is a platform which is centralized website for all campus lost-and-f</a:t>
            </a: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ound matters.</a:t>
            </a:r>
          </a:p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is provides fast search and filter, with simple matching of found items with lost items.</a:t>
            </a:r>
          </a:p>
          <a:p>
            <a:pPr algn="l" marL="563497" indent="-281749" lvl="1">
              <a:lnSpc>
                <a:spcPts val="3654"/>
              </a:lnSpc>
              <a:buFont typeface="Arial"/>
              <a:buChar char="•"/>
            </a:pPr>
            <a:r>
              <a:rPr lang="en-US" b="true" sz="2609" spc="-20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establishes a structured and secure process for posting, claiming items with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113002" y="401641"/>
            <a:ext cx="6320876" cy="100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9371" y="1724949"/>
            <a:ext cx="12062855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9371" y="3882403"/>
            <a:ext cx="8087320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key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211537"/>
            <a:ext cx="12692198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solution solves the problem 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460497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69570" y="1302863"/>
            <a:ext cx="17295092" cy="324283"/>
          </a:xfrm>
          <a:custGeom>
            <a:avLst/>
            <a:gdLst/>
            <a:ahLst/>
            <a:cxnLst/>
            <a:rect r="r" b="b" t="t" l="l"/>
            <a:pathLst>
              <a:path h="324283" w="17295092">
                <a:moveTo>
                  <a:pt x="0" y="0"/>
                </a:moveTo>
                <a:lnTo>
                  <a:pt x="17295093" y="0"/>
                </a:lnTo>
                <a:lnTo>
                  <a:pt x="17295093" y="324283"/>
                </a:lnTo>
                <a:lnTo>
                  <a:pt x="0" y="324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48507" y="2533936"/>
            <a:ext cx="10585371" cy="125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b="true" sz="2409" spc="-19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web application that serves as a lost and found service for the campus community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b="true" sz="2409" spc="-19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Users can post lost or found notices with photos, descriptions, and location information.</a:t>
            </a:r>
          </a:p>
          <a:p>
            <a:pPr algn="l" marL="520318" indent="-260159" lvl="1">
              <a:lnSpc>
                <a:spcPts val="3374"/>
              </a:lnSpc>
              <a:buFont typeface="Arial"/>
              <a:buChar char="•"/>
            </a:pPr>
            <a:r>
              <a:rPr lang="en-US" b="true" sz="2409" spc="-19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platform offers a category sytem where user can filter through and search for items easily.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48507" y="7934776"/>
            <a:ext cx="11148179" cy="1672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b="true" sz="2409" spc="-19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pr</a:t>
            </a:r>
            <a:r>
              <a:rPr lang="en-US" b="true" sz="2409" spc="-19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ovides a structured platform which replaces unorganized WhatsApp groups and communities.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b="true" sz="2409" spc="-19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Filtering and categorization makes the process less confusing and easy to use.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b="true" sz="2409" spc="-19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There are greater chances that an item can be recovered with smart matching</a:t>
            </a:r>
          </a:p>
          <a:p>
            <a:pPr algn="l" marL="520318" indent="-260159" lvl="1">
              <a:lnSpc>
                <a:spcPts val="3374"/>
              </a:lnSpc>
              <a:buFont typeface="Arial"/>
              <a:buChar char="•"/>
            </a:pPr>
            <a:r>
              <a:rPr lang="en-US" b="true" sz="2409" spc="-19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ensures secure and genuine claims through the verification process.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48507" y="4605643"/>
            <a:ext cx="9930169" cy="251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248" indent="-259624" lvl="1">
              <a:lnSpc>
                <a:spcPts val="3367"/>
              </a:lnSpc>
              <a:buFont typeface="Arial"/>
              <a:buChar char="•"/>
            </a:pPr>
            <a:r>
              <a:rPr lang="en-US" b="true" sz="2405" spc="-18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can l</a:t>
            </a:r>
            <a:r>
              <a:rPr lang="en-US" b="true" sz="2405" spc="-18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ogin using college ID</a:t>
            </a:r>
          </a:p>
          <a:p>
            <a:pPr algn="l" marL="519248" indent="-259624" lvl="1">
              <a:lnSpc>
                <a:spcPts val="3367"/>
              </a:lnSpc>
              <a:buFont typeface="Arial"/>
              <a:buChar char="•"/>
            </a:pPr>
            <a:r>
              <a:rPr lang="en-US" b="true" sz="2405" spc="-18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post of lost item with photo and lost item details.</a:t>
            </a:r>
          </a:p>
          <a:p>
            <a:pPr algn="l" marL="519248" indent="-259624" lvl="1">
              <a:lnSpc>
                <a:spcPts val="3367"/>
              </a:lnSpc>
              <a:buFont typeface="Arial"/>
              <a:buChar char="•"/>
            </a:pPr>
            <a:r>
              <a:rPr lang="en-US" b="true" sz="2405" spc="-18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post of lost item are search and filtered by category and location.</a:t>
            </a:r>
          </a:p>
          <a:p>
            <a:pPr algn="l" marL="519248" indent="-259624" lvl="1">
              <a:lnSpc>
                <a:spcPts val="3367"/>
              </a:lnSpc>
              <a:buFont typeface="Arial"/>
              <a:buChar char="•"/>
            </a:pPr>
            <a:r>
              <a:rPr lang="en-US" b="true" sz="2405" spc="-18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Lost item is finded using smart matching of similar lost and found items</a:t>
            </a:r>
          </a:p>
          <a:p>
            <a:pPr algn="l" marL="519248" indent="-259624" lvl="1">
              <a:lnSpc>
                <a:spcPts val="3367"/>
              </a:lnSpc>
              <a:buFont typeface="Arial"/>
              <a:buChar char="•"/>
            </a:pPr>
            <a:r>
              <a:rPr lang="en-US" b="true" sz="2405" spc="-18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Claims of lost items are requsted and can be claimed through user to user contact system</a:t>
            </a:r>
          </a:p>
          <a:p>
            <a:pPr algn="l" marL="519248" indent="-259624" lvl="1">
              <a:lnSpc>
                <a:spcPts val="3367"/>
              </a:lnSpc>
              <a:buFont typeface="Arial"/>
              <a:buChar char="•"/>
            </a:pPr>
            <a:r>
              <a:rPr lang="en-US" b="true" sz="2405" spc="-19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Verification system makes sure that the item is returned to the real owner.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87580" y="139663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007239" y="-269129"/>
            <a:ext cx="2475690" cy="2475690"/>
            <a:chOff x="0" y="0"/>
            <a:chExt cx="3300921" cy="3300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69570" y="1302863"/>
            <a:ext cx="17295092" cy="324283"/>
          </a:xfrm>
          <a:custGeom>
            <a:avLst/>
            <a:gdLst/>
            <a:ahLst/>
            <a:cxnLst/>
            <a:rect r="r" b="b" t="t" l="l"/>
            <a:pathLst>
              <a:path h="324283" w="17295092">
                <a:moveTo>
                  <a:pt x="0" y="0"/>
                </a:moveTo>
                <a:lnTo>
                  <a:pt x="17295093" y="0"/>
                </a:lnTo>
                <a:lnTo>
                  <a:pt x="17295093" y="324283"/>
                </a:lnTo>
                <a:lnTo>
                  <a:pt x="0" y="324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809235" y="1937309"/>
            <a:ext cx="9708945" cy="5246370"/>
            <a:chOff x="0" y="0"/>
            <a:chExt cx="150417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04170" cy="812800"/>
            </a:xfrm>
            <a:custGeom>
              <a:avLst/>
              <a:gdLst/>
              <a:ahLst/>
              <a:cxnLst/>
              <a:rect r="r" b="b" t="t" l="l"/>
              <a:pathLst>
                <a:path h="812800" w="1504170">
                  <a:moveTo>
                    <a:pt x="0" y="0"/>
                  </a:moveTo>
                  <a:lnTo>
                    <a:pt x="1504170" y="0"/>
                  </a:lnTo>
                  <a:lnTo>
                    <a:pt x="150417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0" t="-470" r="0" b="-47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954675" y="272196"/>
            <a:ext cx="10896419" cy="8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2589" y="1851584"/>
            <a:ext cx="7763910" cy="11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Main components (Frontend, Backend, Database, APIs)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02043" y="7250354"/>
            <a:ext cx="6649051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1" indent="-259004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data flow briefly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9570" y="3212998"/>
            <a:ext cx="8440450" cy="6568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4"/>
              </a:lnSpc>
              <a:spcBef>
                <a:spcPct val="0"/>
              </a:spcBef>
            </a:pP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</a:t>
            </a: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ontend</a:t>
            </a:r>
          </a:p>
          <a:p>
            <a:pPr algn="l" marL="617570" indent="-308785" lvl="1">
              <a:lnSpc>
                <a:spcPts val="40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interface built using React</a:t>
            </a:r>
          </a:p>
          <a:p>
            <a:pPr algn="l" marL="617570" indent="-308785" lvl="1">
              <a:lnSpc>
                <a:spcPts val="40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Allows users to post, search, and view the lost and found items</a:t>
            </a:r>
          </a:p>
          <a:p>
            <a:pPr algn="l">
              <a:lnSpc>
                <a:spcPts val="4004"/>
              </a:lnSpc>
              <a:spcBef>
                <a:spcPct val="0"/>
              </a:spcBef>
            </a:pP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</a:t>
            </a:r>
          </a:p>
          <a:p>
            <a:pPr algn="l" marL="617570" indent="-308785" lvl="1">
              <a:lnSpc>
                <a:spcPts val="40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Handles application logic and requests made by the user</a:t>
            </a:r>
          </a:p>
          <a:p>
            <a:pPr algn="l" marL="617570" indent="-308785" lvl="1">
              <a:lnSpc>
                <a:spcPts val="40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Manages posting, searching, and the claim process</a:t>
            </a:r>
          </a:p>
          <a:p>
            <a:pPr algn="l">
              <a:lnSpc>
                <a:spcPts val="4004"/>
              </a:lnSpc>
              <a:spcBef>
                <a:spcPct val="0"/>
              </a:spcBef>
            </a:pP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</a:t>
            </a:r>
          </a:p>
          <a:p>
            <a:pPr algn="l" marL="617570" indent="-308785" lvl="1">
              <a:lnSpc>
                <a:spcPts val="40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Stores user details and item information</a:t>
            </a:r>
          </a:p>
          <a:p>
            <a:pPr algn="l" marL="617570" indent="-308785" lvl="1">
              <a:lnSpc>
                <a:spcPts val="40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Maintains lost and found records</a:t>
            </a:r>
          </a:p>
          <a:p>
            <a:pPr algn="l">
              <a:lnSpc>
                <a:spcPts val="4004"/>
              </a:lnSpc>
              <a:spcBef>
                <a:spcPct val="0"/>
              </a:spcBef>
            </a:pP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APIs</a:t>
            </a:r>
          </a:p>
          <a:p>
            <a:pPr algn="l" marL="617570" indent="-308785" lvl="1">
              <a:lnSpc>
                <a:spcPts val="40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Used for image upload and notifications</a:t>
            </a:r>
          </a:p>
          <a:p>
            <a:pPr algn="l" marL="617570" indent="-308785" lvl="1">
              <a:lnSpc>
                <a:spcPts val="40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0" spc="-22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Helps in smooth communication between components</a:t>
            </a:r>
          </a:p>
          <a:p>
            <a:pPr algn="l">
              <a:lnSpc>
                <a:spcPts val="4004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737076" y="7945018"/>
            <a:ext cx="8193570" cy="167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9550" indent="-254775" lvl="1">
              <a:lnSpc>
                <a:spcPts val="33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60" spc="-18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interacts with fr</a:t>
            </a:r>
            <a:r>
              <a:rPr lang="en-US" b="true" sz="2360" spc="-18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ontend (website)</a:t>
            </a:r>
          </a:p>
          <a:p>
            <a:pPr algn="l" marL="509550" indent="-254775" lvl="1">
              <a:lnSpc>
                <a:spcPts val="33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60" spc="-18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sends request to backend</a:t>
            </a:r>
          </a:p>
          <a:p>
            <a:pPr algn="l" marL="509550" indent="-254775" lvl="1">
              <a:lnSpc>
                <a:spcPts val="33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60" spc="-18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processes and stores data in database</a:t>
            </a:r>
          </a:p>
          <a:p>
            <a:pPr algn="l" marL="509550" indent="-254775" lvl="1">
              <a:lnSpc>
                <a:spcPts val="33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60" spc="-18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Response is sent back to frontend and displayed to user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87580" y="139663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007239" y="-269129"/>
            <a:ext cx="2475690" cy="2475690"/>
            <a:chOff x="0" y="0"/>
            <a:chExt cx="3300921" cy="3300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69570" y="1302863"/>
            <a:ext cx="17295092" cy="324283"/>
          </a:xfrm>
          <a:custGeom>
            <a:avLst/>
            <a:gdLst/>
            <a:ahLst/>
            <a:cxnLst/>
            <a:rect r="r" b="b" t="t" l="l"/>
            <a:pathLst>
              <a:path h="324283" w="17295092">
                <a:moveTo>
                  <a:pt x="0" y="0"/>
                </a:moveTo>
                <a:lnTo>
                  <a:pt x="17295093" y="0"/>
                </a:lnTo>
                <a:lnTo>
                  <a:pt x="17295093" y="324283"/>
                </a:lnTo>
                <a:lnTo>
                  <a:pt x="0" y="324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624600" y="1949717"/>
            <a:ext cx="11918320" cy="7308583"/>
            <a:chOff x="0" y="0"/>
            <a:chExt cx="1551413" cy="9513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1413" cy="951362"/>
            </a:xfrm>
            <a:custGeom>
              <a:avLst/>
              <a:gdLst/>
              <a:ahLst/>
              <a:cxnLst/>
              <a:rect r="r" b="b" t="t" l="l"/>
              <a:pathLst>
                <a:path h="951362" w="1551413">
                  <a:moveTo>
                    <a:pt x="0" y="0"/>
                  </a:moveTo>
                  <a:lnTo>
                    <a:pt x="1551413" y="0"/>
                  </a:lnTo>
                  <a:lnTo>
                    <a:pt x="1551413" y="951362"/>
                  </a:lnTo>
                  <a:lnTo>
                    <a:pt x="0" y="951362"/>
                  </a:lnTo>
                  <a:close/>
                </a:path>
              </a:pathLst>
            </a:custGeom>
            <a:blipFill>
              <a:blip r:embed="rId8"/>
              <a:stretch>
                <a:fillRect l="-15616" t="-1419" r="0" b="-141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954675" y="272196"/>
            <a:ext cx="10896419" cy="100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FLOWCHART  /  WORKING PROCESS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24280"/>
            <a:ext cx="7758947" cy="6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980" indent="-266660" lvl="2">
              <a:lnSpc>
                <a:spcPts val="4899"/>
              </a:lnSpc>
              <a:buFont typeface="Arial"/>
              <a:buChar char="⚬"/>
            </a:pPr>
            <a:r>
              <a:rPr lang="en-US" b="true" sz="3498" spc="-27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 step-by-step working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0900" y="6823335"/>
            <a:ext cx="7255088" cy="6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980" indent="-266660" lvl="2">
              <a:lnSpc>
                <a:spcPts val="4899"/>
              </a:lnSpc>
              <a:buFont typeface="Arial"/>
              <a:buChar char="⚬"/>
            </a:pPr>
            <a:r>
              <a:rPr lang="en-US" b="true" sz="3498" spc="-27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user flow or system 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9084" y="2584348"/>
            <a:ext cx="8392144" cy="411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l</a:t>
            </a: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ogs in using college id instead of email id.</a:t>
            </a:r>
          </a:p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The user then makes a post for a lost or found item</a:t>
            </a:r>
          </a:p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User adds image and details of the item.</a:t>
            </a:r>
          </a:p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Post is visible on the general feed.</a:t>
            </a:r>
          </a:p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Other users can search and filter items.</a:t>
            </a:r>
          </a:p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recommends corresponding items.</a:t>
            </a:r>
          </a:p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submits a claim request.</a:t>
            </a:r>
          </a:p>
          <a:p>
            <a:pPr algn="l" marL="563497" indent="-281749" lvl="1">
              <a:lnSpc>
                <a:spcPts val="3653"/>
              </a:lnSpc>
              <a:buFont typeface="Arial"/>
              <a:buChar char="•"/>
            </a:pPr>
            <a:r>
              <a:rPr lang="en-US" b="true" sz="2609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Verification takes place prior to handover.</a:t>
            </a:r>
          </a:p>
          <a:p>
            <a:pPr algn="l" marL="563497" indent="-281749" lvl="1">
              <a:lnSpc>
                <a:spcPts val="3654"/>
              </a:lnSpc>
              <a:buFont typeface="Arial"/>
              <a:buChar char="•"/>
            </a:pPr>
            <a:r>
              <a:rPr lang="en-US" b="true" sz="2609" spc="-20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Item is returned to the owner.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41446" y="7582133"/>
            <a:ext cx="7661434" cy="182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5023" indent="-282511" lvl="1">
              <a:lnSpc>
                <a:spcPts val="3663"/>
              </a:lnSpc>
              <a:buFont typeface="Arial"/>
              <a:buChar char="•"/>
            </a:pPr>
            <a:r>
              <a:rPr lang="en-US" b="true" sz="2617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Interacti</a:t>
            </a:r>
            <a:r>
              <a:rPr lang="en-US" b="true" sz="2617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 with the platform</a:t>
            </a:r>
          </a:p>
          <a:p>
            <a:pPr algn="l" marL="565023" indent="-282511" lvl="1">
              <a:lnSpc>
                <a:spcPts val="3663"/>
              </a:lnSpc>
              <a:buFont typeface="Arial"/>
              <a:buChar char="•"/>
            </a:pPr>
            <a:r>
              <a:rPr lang="en-US" b="true" sz="2617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extracts and displays the corresponding information</a:t>
            </a:r>
          </a:p>
          <a:p>
            <a:pPr algn="l" marL="565023" indent="-282511" lvl="1">
              <a:lnSpc>
                <a:spcPts val="3663"/>
              </a:lnSpc>
              <a:buFont typeface="Arial"/>
              <a:buChar char="•"/>
            </a:pPr>
            <a:r>
              <a:rPr lang="en-US" b="true" sz="2617" spc="-2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Users establish connections via claim requests to one another</a:t>
            </a:r>
          </a:p>
          <a:p>
            <a:pPr algn="l" marL="565023" indent="-282511" lvl="1">
              <a:lnSpc>
                <a:spcPts val="3664"/>
              </a:lnSpc>
              <a:buFont typeface="Arial"/>
              <a:buChar char="•"/>
            </a:pPr>
            <a:r>
              <a:rPr lang="en-US" b="true" sz="2617" spc="-20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Verification guarantees the safe exchange of items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883" y="-85741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114800" y="253708"/>
            <a:ext cx="11326759" cy="94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5226" y="1863992"/>
            <a:ext cx="8653020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technologies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97567"/>
            <a:ext cx="10072468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technologies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31143"/>
            <a:ext cx="11408117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5226" y="6783769"/>
            <a:ext cx="12705135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and APIs used and </a:t>
            </a:r>
            <a:r>
              <a:rPr lang="en-US" sz="3399" spc="-27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eason for choosing each (1 line each)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1253509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69570" y="1302863"/>
            <a:ext cx="17295092" cy="324283"/>
          </a:xfrm>
          <a:custGeom>
            <a:avLst/>
            <a:gdLst/>
            <a:ahLst/>
            <a:cxnLst/>
            <a:rect r="r" b="b" t="t" l="l"/>
            <a:pathLst>
              <a:path h="324283" w="17295092">
                <a:moveTo>
                  <a:pt x="0" y="0"/>
                </a:moveTo>
                <a:lnTo>
                  <a:pt x="17295093" y="0"/>
                </a:lnTo>
                <a:lnTo>
                  <a:pt x="17295093" y="324283"/>
                </a:lnTo>
                <a:lnTo>
                  <a:pt x="0" y="324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75344" y="2796781"/>
            <a:ext cx="12093576" cy="4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0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HTML, CSS, JavaScript – Build the user interface;  structure, style, and interactive for user.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75344" y="4430357"/>
            <a:ext cx="11908121" cy="4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0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Node.js (Express) – Handles requests, processes data, and communicates with the database.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75344" y="6063933"/>
            <a:ext cx="10641126" cy="4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0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MongoDB (Atlas) – Stores all lost/found items, users, and claim requests securely.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5344" y="7716558"/>
            <a:ext cx="8780740" cy="83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0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– To manage code and track team commits.</a:t>
            </a:r>
          </a:p>
          <a:p>
            <a:pPr algn="l">
              <a:lnSpc>
                <a:spcPts val="3373"/>
              </a:lnSpc>
            </a:pPr>
            <a:r>
              <a:rPr lang="en-US" sz="240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Fetch API / Axios – Allows frontend to communicate with backend.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30030" y="243288"/>
            <a:ext cx="7003999" cy="102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PLAN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16730" y="1307173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84484" y="1882279"/>
            <a:ext cx="17295092" cy="324283"/>
          </a:xfrm>
          <a:custGeom>
            <a:avLst/>
            <a:gdLst/>
            <a:ahLst/>
            <a:cxnLst/>
            <a:rect r="r" b="b" t="t" l="l"/>
            <a:pathLst>
              <a:path h="324283" w="17295092">
                <a:moveTo>
                  <a:pt x="0" y="0"/>
                </a:moveTo>
                <a:lnTo>
                  <a:pt x="17295092" y="0"/>
                </a:lnTo>
                <a:lnTo>
                  <a:pt x="17295092" y="324283"/>
                </a:lnTo>
                <a:lnTo>
                  <a:pt x="0" y="324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51971" y="3100419"/>
            <a:ext cx="14277946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UI screens – Login page, Lost/Found form, Feed, Search, Claim request.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Setup Backend server – Node.js server with API routes for login, post, search, claim.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Connect Database – MongoDB Atlas to store users, items, and claims.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Integrate Frontend &amp; Backend – Use API calls (Fetch/Axios) to connect forms, feed, and search.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Add Features – Posting items, searching/filtering, claim requests, notifications.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Testing &amp; Debugging – Ensure all modules work correctly and fix issues.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Touches &amp; Deployment – Update PPT, add screenshots, deploy live (optional).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1971" y="6590017"/>
            <a:ext cx="11093196" cy="369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410" indent="-249205" lvl="1">
              <a:lnSpc>
                <a:spcPts val="3231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Description</a:t>
            </a:r>
          </a:p>
          <a:p>
            <a:pPr algn="l" marL="498410" indent="-249205" lvl="1">
              <a:lnSpc>
                <a:spcPts val="3231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 Module</a:t>
            </a:r>
          </a:p>
          <a:p>
            <a:pPr algn="l" marL="498410" indent="-249205" lvl="1">
              <a:lnSpc>
                <a:spcPts val="3231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login with college ID for students/faculty.</a:t>
            </a:r>
          </a:p>
          <a:p>
            <a:pPr algn="l" marL="498410" indent="-249205" lvl="1">
              <a:lnSpc>
                <a:spcPts val="3231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Lost/Found Item</a:t>
            </a:r>
          </a:p>
          <a:p>
            <a:pPr algn="l" marL="498410" indent="-249205" lvl="1">
              <a:lnSpc>
                <a:spcPts val="3231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Upload item details, photo, date, and location.</a:t>
            </a:r>
          </a:p>
          <a:p>
            <a:pPr algn="l" marL="498410" indent="-249205" lvl="1">
              <a:lnSpc>
                <a:spcPts val="3231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 Module</a:t>
            </a:r>
          </a:p>
          <a:p>
            <a:pPr algn="l" marL="498410" indent="-249205" lvl="1">
              <a:lnSpc>
                <a:spcPts val="3231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display of all lost/found posts.</a:t>
            </a:r>
          </a:p>
          <a:p>
            <a:pPr algn="l" marL="498410" indent="-249205" lvl="1">
              <a:lnSpc>
                <a:spcPts val="3231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&amp; Filter</a:t>
            </a:r>
          </a:p>
          <a:p>
            <a:pPr algn="l">
              <a:lnSpc>
                <a:spcPts val="323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812517" y="6730460"/>
            <a:ext cx="6817400" cy="234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Search by category, location, </a:t>
            </a: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date, and keywords.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Claim Request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Users request ownership of items.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Notifications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updates on new items and claim approvals.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44172" y="5968905"/>
            <a:ext cx="5752981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</a:t>
            </a:r>
            <a:r>
              <a:rPr lang="en-US" b="true" sz="3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dules / Features Breakdown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4172" y="2253329"/>
            <a:ext cx="3513654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</a:t>
            </a:r>
            <a:r>
              <a:rPr lang="en-US" b="true" sz="3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elopment Steps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883" y="60922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288887" y="258985"/>
            <a:ext cx="12108428" cy="95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6629" y="1864631"/>
            <a:ext cx="6056008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results of the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6629" y="4605007"/>
            <a:ext cx="4164517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to users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6629" y="7346023"/>
            <a:ext cx="4613412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Real-world impact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65415" y="1289285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69570" y="1302863"/>
            <a:ext cx="17295092" cy="324283"/>
          </a:xfrm>
          <a:custGeom>
            <a:avLst/>
            <a:gdLst/>
            <a:ahLst/>
            <a:cxnLst/>
            <a:rect r="r" b="b" t="t" l="l"/>
            <a:pathLst>
              <a:path h="324283" w="17295092">
                <a:moveTo>
                  <a:pt x="0" y="0"/>
                </a:moveTo>
                <a:lnTo>
                  <a:pt x="17295093" y="0"/>
                </a:lnTo>
                <a:lnTo>
                  <a:pt x="17295093" y="324283"/>
                </a:lnTo>
                <a:lnTo>
                  <a:pt x="0" y="324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53010" y="2720581"/>
            <a:ext cx="12127231" cy="164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Faster recovery of lost items on campus.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Organized, centralized platform for all lost and found item notice.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Reduced time and stress in locating items.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Functional prototype demonstrating all key features (login, post, search, claim, notifications).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53010" y="5461597"/>
            <a:ext cx="9755743" cy="164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Users can quickly report or find lost items.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Easy-to-use interface with search and filter options.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updates and notifications for matched items or claim approvals.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and reliable system with ownership verification.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45950" y="8202613"/>
            <a:ext cx="9369862" cy="164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Reduces loss of valuable items like ID cards, gadgets, and keys.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Improves campus safety and efficiency.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Provides a scalable solution that can be extended to other campuses.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Demonstrates tech-driven problem solving for everyday campus issues.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03649" y="197672"/>
            <a:ext cx="9836648" cy="102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5190" y="1541421"/>
            <a:ext cx="5200398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5190" y="6385277"/>
            <a:ext cx="5368173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of the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303" y="4158611"/>
            <a:ext cx="4349201" cy="59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summary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36047" y="1271397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128797" y="-298618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69570" y="1302863"/>
            <a:ext cx="17295092" cy="324283"/>
          </a:xfrm>
          <a:custGeom>
            <a:avLst/>
            <a:gdLst/>
            <a:ahLst/>
            <a:cxnLst/>
            <a:rect r="r" b="b" t="t" l="l"/>
            <a:pathLst>
              <a:path h="324283" w="17295092">
                <a:moveTo>
                  <a:pt x="0" y="0"/>
                </a:moveTo>
                <a:lnTo>
                  <a:pt x="17295093" y="0"/>
                </a:lnTo>
                <a:lnTo>
                  <a:pt x="17295093" y="324283"/>
                </a:lnTo>
                <a:lnTo>
                  <a:pt x="0" y="324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99084" y="2131310"/>
            <a:ext cx="15153770" cy="205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Notification alerts for matching lost/foun</a:t>
            </a: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 items.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AI-based matching to suggest the possible owner of the item.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Using database of college ID system for faster verification.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 app for easy acesses.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Analytics dashboard to track lost/found trends on campus.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9084" y="4767551"/>
            <a:ext cx="12165926" cy="164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Campus Lost &amp; Foun</a:t>
            </a: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 system provides a simple and effective solution to a common problem.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Easy to use, secure, and organized for students and faculty.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Demonstrates innovation, scalability, and real-world impact.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Ready to deploy and expand for broader campus adoption.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19344" y="6994216"/>
            <a:ext cx="6809542" cy="287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Node.js + npm (Backen</a:t>
            </a: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d)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Download from: https://nodejs.org/en/download⁠�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Install LTS version (stable)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Verify installation in terminal: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Bash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node -v</a:t>
            </a:r>
          </a:p>
          <a:p>
            <a:pPr algn="l" marL="498729" indent="-249365" lvl="1">
              <a:lnSpc>
                <a:spcPts val="3234"/>
              </a:lnSpc>
              <a:buFont typeface="Arial"/>
              <a:buChar char="•"/>
            </a:pPr>
            <a:r>
              <a:rPr lang="en-US" b="true" sz="231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npm -v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DAHFoUz6bTM</dc:identifier>
  <dcterms:modified xsi:type="dcterms:W3CDTF">2011-08-01T06:04:30Z</dcterms:modified>
  <cp:revision>1</cp:revision>
  <dc:title>PPT template.pptx</dc:title>
</cp:coreProperties>
</file>